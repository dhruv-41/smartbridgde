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7.jpeg" ContentType="image/jpeg"/>
  <Override PartName="/ppt/media/image2.png" ContentType="image/png"/>
  <Override PartName="/ppt/media/image4.jpeg" ContentType="image/jpeg"/>
  <Override PartName="/ppt/media/image3.jpeg" ContentType="image/jpeg"/>
  <Override PartName="/ppt/media/image5.jpeg" ContentType="image/jpeg"/>
  <Override PartName="/ppt/media/image6.jpeg" ContentType="image/jpe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6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" name="Google Shape;11;p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" name="Google Shape;12;p2"/>
          <p:cNvCxnSpPr/>
          <p:nvPr/>
        </p:nvCxnSpPr>
        <p:spPr>
          <a:xfrm flipV="1" rot="10800000">
            <a:off x="-257760" y="-72720"/>
            <a:ext cx="3047400" cy="134640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" name="Google Shape;13;p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" name="Google Shape;14;p2"/>
          <p:cNvCxnSpPr/>
          <p:nvPr/>
        </p:nvCxnSpPr>
        <p:spPr>
          <a:xfrm flipV="1" rot="10800000">
            <a:off x="6467040" y="3935160"/>
            <a:ext cx="3047760" cy="1346760"/>
          </a:xfrm>
          <a:prstGeom prst="curvedConnector3">
            <a:avLst>
              <a:gd name="adj1" fmla="val 24997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" name="Google Shape;135;p1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" name="Google Shape;136;p1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" name="Google Shape;137;p18"/>
          <p:cNvCxnSpPr/>
          <p:nvPr/>
        </p:nvCxnSpPr>
        <p:spPr>
          <a:xfrm flipV="1" rot="10800000">
            <a:off x="5924880" y="2796840"/>
            <a:ext cx="3378240" cy="2467440"/>
          </a:xfrm>
          <a:prstGeom prst="curvedConnector3">
            <a:avLst>
              <a:gd name="adj1" fmla="val 24992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66;p2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" name="Google Shape;167;p2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" name="Google Shape;168;p2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" name="Google Shape;169;p2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25014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" name="Google Shape;170;p23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" name="Google Shape;171;p23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24985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95000" y="109656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7000" spc="-1" strike="noStrike">
                <a:solidFill>
                  <a:schemeClr val="accent1"/>
                </a:solidFill>
                <a:latin typeface="Vidaloka"/>
                <a:ea typeface="Vidaloka"/>
              </a:rPr>
              <a:t>xx%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Google Shape;209;p2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" name="Google Shape;210;p2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" name="Google Shape;211;p2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" name="Google Shape;212;p2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25014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7" name="Google Shape;213;p28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8" name="Google Shape;214;p28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24985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456;p5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1" name="Google Shape;457;p5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459;p5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3" name="Google Shape;460;p5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4" name="Google Shape;461;p52"/>
          <p:cNvCxnSpPr/>
          <p:nvPr/>
        </p:nvCxnSpPr>
        <p:spPr>
          <a:xfrm>
            <a:off x="7434000" y="-125280"/>
            <a:ext cx="1993680" cy="133020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5" name="Google Shape;462;p52"/>
          <p:cNvCxnSpPr/>
          <p:nvPr/>
        </p:nvCxnSpPr>
        <p:spPr>
          <a:xfrm>
            <a:off x="-147240" y="3943440"/>
            <a:ext cx="1993320" cy="133056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464;p5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7" name="Google Shape;465;p5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8" name="Google Shape;466;p53"/>
          <p:cNvCxnSpPr/>
          <p:nvPr/>
        </p:nvCxnSpPr>
        <p:spPr>
          <a:xfrm flipV="1" rot="10800000">
            <a:off x="6771600" y="3663360"/>
            <a:ext cx="2823840" cy="163332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468;p5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0" name="Google Shape;469;p5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1" name="Google Shape;470;p54"/>
          <p:cNvCxnSpPr/>
          <p:nvPr/>
        </p:nvCxnSpPr>
        <p:spPr>
          <a:xfrm>
            <a:off x="-250200" y="4076280"/>
            <a:ext cx="1927080" cy="116136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2" name="Google Shape;471;p54"/>
          <p:cNvCxnSpPr/>
          <p:nvPr/>
        </p:nvCxnSpPr>
        <p:spPr>
          <a:xfrm>
            <a:off x="7440840" y="-48240"/>
            <a:ext cx="1927440" cy="116100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3" name="Google Shape;472;p54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4" name="Google Shape;473;p54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" name="Google Shape;26;p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8" name="Google Shape;27;p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9" name="Google Shape;28;p4"/>
          <p:cNvCxnSpPr/>
          <p:nvPr/>
        </p:nvCxnSpPr>
        <p:spPr>
          <a:xfrm>
            <a:off x="6884640" y="-113400"/>
            <a:ext cx="2566080" cy="1306080"/>
          </a:xfrm>
          <a:prstGeom prst="curvedConnector3">
            <a:avLst>
              <a:gd name="adj1" fmla="val 25017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" name="Google Shape;57;p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4" name="Google Shape;58;p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5" name="Google Shape;59;p9"/>
          <p:cNvCxnSpPr/>
          <p:nvPr/>
        </p:nvCxnSpPr>
        <p:spPr>
          <a:xfrm flipV="1" rot="10800000">
            <a:off x="5924880" y="2796840"/>
            <a:ext cx="3378240" cy="246744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accent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title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accent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accent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title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accent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1" name="Google Shape;87;p1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2" name="Google Shape;88;p1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63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title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title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title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title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8"/>
          <p:cNvSpPr>
            <a:spLocks noGrp="1"/>
          </p:cNvSpPr>
          <p:nvPr>
            <p:ph type="title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9"/>
          <p:cNvSpPr>
            <a:spLocks noGrp="1"/>
          </p:cNvSpPr>
          <p:nvPr>
            <p:ph type="title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10"/>
          <p:cNvSpPr>
            <a:spLocks noGrp="1"/>
          </p:cNvSpPr>
          <p:nvPr>
            <p:ph type="title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1"/>
          <p:cNvSpPr>
            <a:spLocks noGrp="1"/>
          </p:cNvSpPr>
          <p:nvPr>
            <p:ph type="title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2"/>
          <p:cNvSpPr>
            <a:spLocks noGrp="1"/>
          </p:cNvSpPr>
          <p:nvPr>
            <p:ph type="title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chemeClr val="dk1"/>
                </a:solidFill>
                <a:latin typeface="Vidaloka"/>
                <a:ea typeface="Vidaloka"/>
              </a:rPr>
              <a:t>xx%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3"/>
          <p:cNvSpPr>
            <a:spLocks noGrp="1"/>
          </p:cNvSpPr>
          <p:nvPr>
            <p:ph type="title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Google Shape;109;p1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8" name="Google Shape;110;p1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9" name="Google Shape;111;p1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0" name="Google Shape;112;p1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2501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81" name="PlaceHolder 1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3" name="Google Shape;116;p1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4" name="Google Shape;117;p1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Google Shape;121;p1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8" name="Google Shape;122;p1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9" name="Google Shape;123;p16"/>
          <p:cNvCxnSpPr/>
          <p:nvPr/>
        </p:nvCxnSpPr>
        <p:spPr>
          <a:xfrm flipV="1" rot="10800000">
            <a:off x="7454160" y="4053240"/>
            <a:ext cx="1927080" cy="1161360"/>
          </a:xfrm>
          <a:prstGeom prst="curvedConnector3">
            <a:avLst>
              <a:gd name="adj1" fmla="val 25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0" name="Google Shape;124;p16"/>
          <p:cNvCxnSpPr/>
          <p:nvPr/>
        </p:nvCxnSpPr>
        <p:spPr>
          <a:xfrm flipV="1" rot="10800000">
            <a:off x="-237240" y="-70920"/>
            <a:ext cx="1926720" cy="1161000"/>
          </a:xfrm>
          <a:prstGeom prst="curvedConnector3">
            <a:avLst>
              <a:gd name="adj1" fmla="val 24985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Google Shape;128;p1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4" name="Google Shape;129;p1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5" name="Google Shape;130;p17"/>
          <p:cNvCxnSpPr/>
          <p:nvPr/>
        </p:nvCxnSpPr>
        <p:spPr>
          <a:xfrm>
            <a:off x="-250200" y="4076280"/>
            <a:ext cx="1927080" cy="116136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6" name="Google Shape;131;p17"/>
          <p:cNvCxnSpPr/>
          <p:nvPr/>
        </p:nvCxnSpPr>
        <p:spPr>
          <a:xfrm>
            <a:off x="7440840" y="-48240"/>
            <a:ext cx="1927440" cy="1161000"/>
          </a:xfrm>
          <a:prstGeom prst="curvedConnector2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01760" y="556560"/>
            <a:ext cx="8654400" cy="17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Project Title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             </a:t>
            </a:r>
            <a:r>
              <a:rPr b="1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Visualizing Housing Market Trends: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An Analysis of Sale Prices and Features using Tableau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922680" y="2520000"/>
            <a:ext cx="5538240" cy="14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Team ID :  </a:t>
            </a:r>
            <a:r>
              <a:rPr b="0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306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Team Size :</a:t>
            </a:r>
            <a:r>
              <a:rPr b="0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Team Leader :</a:t>
            </a:r>
            <a:r>
              <a:rPr b="0" lang="en" sz="1200" spc="-1" strike="noStrike">
                <a:solidFill>
                  <a:srgbClr val="222222"/>
                </a:solidFill>
                <a:highlight>
                  <a:srgbClr val="f5f2ee"/>
                </a:highlight>
                <a:latin typeface="Arial"/>
                <a:ea typeface="Arial"/>
              </a:rPr>
              <a:t> Dhruv Sahu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15388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Objective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713160" y="1108440"/>
            <a:ext cx="8072640" cy="32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To analyze housing data and visualize trends such as house prices, age, and renovation impact using Tableau, enabling data-driven decision-making for stakeholders like real estate analysts and executives.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Arial"/>
                <a:ea typeface="Arial"/>
              </a:rPr>
              <a:t>Dataset Used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Source: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kc_house_data.csv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Size: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~21,000 records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Attributes: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Includes price, bedrooms, bathrooms, floors, condition, renovation year, square footage, and more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500;p62"/>
          <p:cNvSpPr/>
          <p:nvPr/>
        </p:nvSpPr>
        <p:spPr>
          <a:xfrm>
            <a:off x="448560" y="415800"/>
            <a:ext cx="386352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600" spc="-1" strike="noStrike">
                <a:solidFill>
                  <a:srgbClr val="000000"/>
                </a:solidFill>
                <a:latin typeface="Arial"/>
                <a:ea typeface="Arial"/>
              </a:rPr>
              <a:t>Data Flow Diagrams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501;p62" descr=""/>
          <p:cNvPicPr/>
          <p:nvPr/>
        </p:nvPicPr>
        <p:blipFill>
          <a:blip r:embed="rId1"/>
          <a:stretch/>
        </p:blipFill>
        <p:spPr>
          <a:xfrm>
            <a:off x="801000" y="1538280"/>
            <a:ext cx="7597800" cy="206640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502;p62"/>
          <p:cNvSpPr/>
          <p:nvPr/>
        </p:nvSpPr>
        <p:spPr>
          <a:xfrm>
            <a:off x="613080" y="1009080"/>
            <a:ext cx="2043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DFD Level 0: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503;p62"/>
          <p:cNvSpPr/>
          <p:nvPr/>
        </p:nvSpPr>
        <p:spPr>
          <a:xfrm>
            <a:off x="448560" y="3897360"/>
            <a:ext cx="838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DFD Level 0 shows a high-level overview of the system where the User uploads housing data, the system processes it, and the End User views the visualized dashboard output.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508;p63"/>
          <p:cNvSpPr/>
          <p:nvPr/>
        </p:nvSpPr>
        <p:spPr>
          <a:xfrm>
            <a:off x="234720" y="481320"/>
            <a:ext cx="29995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DFD Level 1: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Google Shape;509;p63" descr=""/>
          <p:cNvPicPr/>
          <p:nvPr/>
        </p:nvPicPr>
        <p:blipFill>
          <a:blip r:embed="rId1"/>
          <a:stretch/>
        </p:blipFill>
        <p:spPr>
          <a:xfrm>
            <a:off x="1389600" y="806760"/>
            <a:ext cx="7022160" cy="3331080"/>
          </a:xfrm>
          <a:prstGeom prst="rect">
            <a:avLst/>
          </a:prstGeom>
          <a:ln w="0">
            <a:noFill/>
          </a:ln>
        </p:spPr>
      </p:pic>
      <p:sp>
        <p:nvSpPr>
          <p:cNvPr id="107" name="Google Shape;510;p63"/>
          <p:cNvSpPr/>
          <p:nvPr/>
        </p:nvSpPr>
        <p:spPr>
          <a:xfrm>
            <a:off x="354600" y="4138200"/>
            <a:ext cx="84430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DFD Level 1 details the step-by-step flow from data upload to cleaning, visualization, dashboard creation, testing, and publishing for end-user access.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515;p64"/>
          <p:cNvSpPr/>
          <p:nvPr/>
        </p:nvSpPr>
        <p:spPr>
          <a:xfrm>
            <a:off x="375840" y="797040"/>
            <a:ext cx="365436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Data Preparation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516;p64"/>
          <p:cNvSpPr/>
          <p:nvPr/>
        </p:nvSpPr>
        <p:spPr>
          <a:xfrm>
            <a:off x="0" y="797040"/>
            <a:ext cx="516888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0" name="Google Shape;517;p64"/>
          <p:cNvSpPr/>
          <p:nvPr/>
        </p:nvSpPr>
        <p:spPr>
          <a:xfrm>
            <a:off x="894960" y="1566360"/>
            <a:ext cx="703368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Cleaned the dataset by removing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null values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and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duplicates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Standardized column formats (e.g.,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dates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numerical fields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Created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calculated fields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like:</a:t>
            </a:r>
            <a:br>
              <a:rPr sz="1500"/>
            </a:b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▸ </a:t>
            </a:r>
            <a:r>
              <a:rPr b="0" i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House Age = 2025 - yr_built</a:t>
            </a:r>
            <a:br>
              <a:rPr sz="1500"/>
            </a:b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▸ </a:t>
            </a:r>
            <a:r>
              <a:rPr b="0" i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Years Since Renovation = 2025 - yr_renovated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Renamed confusing or inconsistent column names for clarity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Filtered irrelevant records (e.g., zero bedroom/floor houses)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❖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Ensured data is structured and ready for meaningful visualization in Tableau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en-US" sz="3000" spc="-1" strike="noStrike">
              <a:solidFill>
                <a:schemeClr val="dk1"/>
              </a:solidFill>
              <a:latin typeface="Vidaloka"/>
              <a:ea typeface="Vidaloka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49320" y="347760"/>
            <a:ext cx="298260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Visualizations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524;p65"/>
          <p:cNvSpPr/>
          <p:nvPr/>
        </p:nvSpPr>
        <p:spPr>
          <a:xfrm>
            <a:off x="528480" y="84564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House Age vs Features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525;p65" descr=""/>
          <p:cNvPicPr/>
          <p:nvPr/>
        </p:nvPicPr>
        <p:blipFill>
          <a:blip r:embed="rId1"/>
          <a:stretch/>
        </p:blipFill>
        <p:spPr>
          <a:xfrm>
            <a:off x="497160" y="1861200"/>
            <a:ext cx="8292600" cy="2676600"/>
          </a:xfrm>
          <a:prstGeom prst="rect">
            <a:avLst/>
          </a:prstGeom>
          <a:ln w="0">
            <a:noFill/>
          </a:ln>
        </p:spPr>
      </p:pic>
      <p:sp>
        <p:nvSpPr>
          <p:cNvPr id="115" name="Google Shape;526;p65"/>
          <p:cNvSpPr/>
          <p:nvPr/>
        </p:nvSpPr>
        <p:spPr>
          <a:xfrm>
            <a:off x="610560" y="1151640"/>
            <a:ext cx="82926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Displays how house age correlates with the number of bathrooms, bedrooms, and floors—highlighting which features influence housing age the most.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en-US" sz="3000" spc="-1" strike="noStrike">
              <a:solidFill>
                <a:schemeClr val="dk1"/>
              </a:solidFill>
              <a:latin typeface="Vidaloka"/>
              <a:ea typeface="Vidaloka"/>
            </a:endParaRPr>
          </a:p>
        </p:txBody>
      </p:sp>
      <p:sp>
        <p:nvSpPr>
          <p:cNvPr id="117" name="Google Shape;532;p66"/>
          <p:cNvSpPr/>
          <p:nvPr/>
        </p:nvSpPr>
        <p:spPr>
          <a:xfrm>
            <a:off x="413280" y="528480"/>
            <a:ext cx="3546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Total Sales by Years Since Renovation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533;p66" descr=""/>
          <p:cNvPicPr/>
          <p:nvPr/>
        </p:nvPicPr>
        <p:blipFill>
          <a:blip r:embed="rId1"/>
          <a:stretch/>
        </p:blipFill>
        <p:spPr>
          <a:xfrm>
            <a:off x="530640" y="1700640"/>
            <a:ext cx="8055360" cy="293040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534;p66"/>
          <p:cNvSpPr/>
          <p:nvPr/>
        </p:nvSpPr>
        <p:spPr>
          <a:xfrm>
            <a:off x="413280" y="928800"/>
            <a:ext cx="81727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Bar chart shows how recent renovations impact house sale prices—newly renovated homes have higher sales counts in specific price bins.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en-US" sz="3000" spc="-1" strike="noStrike">
              <a:solidFill>
                <a:schemeClr val="dk1"/>
              </a:solidFill>
              <a:latin typeface="Vidaloka"/>
              <a:ea typeface="Vidaloka"/>
            </a:endParaRPr>
          </a:p>
        </p:txBody>
      </p:sp>
      <p:sp>
        <p:nvSpPr>
          <p:cNvPr id="121" name="Google Shape;540;p67"/>
          <p:cNvSpPr/>
          <p:nvPr/>
        </p:nvSpPr>
        <p:spPr>
          <a:xfrm>
            <a:off x="540360" y="410040"/>
            <a:ext cx="4394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Distribution of House Age by Renovation Status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541;p67"/>
          <p:cNvSpPr/>
          <p:nvPr/>
        </p:nvSpPr>
        <p:spPr>
          <a:xfrm>
            <a:off x="540360" y="810360"/>
            <a:ext cx="85273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Pie chart illustrates the spread of house age grouped by whether they’ve been renovated, helping identify market trends across age categories.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542;p67" descr=""/>
          <p:cNvPicPr/>
          <p:nvPr/>
        </p:nvPicPr>
        <p:blipFill>
          <a:blip r:embed="rId1"/>
          <a:stretch/>
        </p:blipFill>
        <p:spPr>
          <a:xfrm>
            <a:off x="540360" y="1566360"/>
            <a:ext cx="7916760" cy="293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547;p68" descr=""/>
          <p:cNvPicPr/>
          <p:nvPr/>
        </p:nvPicPr>
        <p:blipFill>
          <a:blip r:embed="rId1"/>
          <a:stretch/>
        </p:blipFill>
        <p:spPr>
          <a:xfrm>
            <a:off x="1094400" y="1914120"/>
            <a:ext cx="7116120" cy="253404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548;p68"/>
          <p:cNvSpPr/>
          <p:nvPr/>
        </p:nvSpPr>
        <p:spPr>
          <a:xfrm>
            <a:off x="272520" y="368640"/>
            <a:ext cx="3534120" cy="15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Overall Dataset Summary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 Summary metrics include: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Total data points analyzed: </a:t>
            </a: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21,609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Basement Area (sqft): </a:t>
            </a: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38,64,798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Average Sale Price: </a:t>
            </a: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₹511,619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946440" y="454680"/>
            <a:ext cx="2085120" cy="5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2600" spc="-1" strike="noStrike">
                <a:solidFill>
                  <a:schemeClr val="dk2"/>
                </a:solidFill>
                <a:latin typeface="Arial"/>
                <a:ea typeface="Arial"/>
              </a:rPr>
              <a:t>Dashboard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Google Shape;554;p69" descr=""/>
          <p:cNvPicPr/>
          <p:nvPr/>
        </p:nvPicPr>
        <p:blipFill>
          <a:blip r:embed="rId1"/>
          <a:stretch/>
        </p:blipFill>
        <p:spPr>
          <a:xfrm>
            <a:off x="774720" y="955800"/>
            <a:ext cx="7353360" cy="367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438120" y="1165320"/>
            <a:ext cx="7537680" cy="23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After creating the dashboard, it is published on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Tableau Public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for wider access.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This step explains how users can view, share, or embed the dashboard online.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📌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Steps: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Publish to Tableau Public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Generate shareable link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Export charts as images or PDFs (if needed)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313920" y="409680"/>
            <a:ext cx="20836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Publishing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734400" y="1200600"/>
            <a:ext cx="7922520" cy="31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Advantages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Interactive Dashboards: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Users can filter by house age, renovation, and price for                personalized insights.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Simplified Analysis: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Visuals make complex housing data easy to understand.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Supports Decisions: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Helps real estate teams make pricing and marketing decisions.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Web-Friendly: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Dashboards can be published or embedded online.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Scalable Design: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Can be extended with new data or integrated with future tools.</a:t>
            </a:r>
            <a:br>
              <a:rPr sz="1500"/>
            </a:br>
            <a:r>
              <a:rPr b="0" lang="en" sz="15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1027440" y="1270800"/>
            <a:ext cx="7088760" cy="28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Arial"/>
                <a:ea typeface="Arial"/>
              </a:rPr>
              <a:t>Disadvantages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Static Data Risk: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Insights depend on updated CSV uploads.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Limited Prediction Support: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Tableau is not ideal for advanced ML or forecasting.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Initial Learning Curve: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Non-technical users may need guidance.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Performance Issues: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Very large datasets may slow performance.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ubTitle"/>
          </p:nvPr>
        </p:nvSpPr>
        <p:spPr>
          <a:xfrm>
            <a:off x="1027080" y="559800"/>
            <a:ext cx="247500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Conclusion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576;p73"/>
          <p:cNvSpPr/>
          <p:nvPr/>
        </p:nvSpPr>
        <p:spPr>
          <a:xfrm>
            <a:off x="727920" y="1357560"/>
            <a:ext cx="7634880" cy="28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This project provides a comprehensive view of housing market trends through interactive Tableau dashboards.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It simplifies raw housing data into insightful visuals for real estate decision-making.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Stakeholders can explore trends by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sale price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renovation year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house age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, and more.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The project enhances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data-driven strategies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for marketing, pricing, and customer targeting.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With web integration and future expansion possibilities, this solution is both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scalable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 and </a:t>
            </a:r>
            <a:r>
              <a:rPr b="1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impactful</a:t>
            </a:r>
            <a:r>
              <a:rPr b="0" lang="en" sz="15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br>
              <a:rPr sz="1500"/>
            </a:br>
            <a:r>
              <a:rPr b="0" lang="en" sz="15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581;p74" descr=""/>
          <p:cNvPicPr/>
          <p:nvPr/>
        </p:nvPicPr>
        <p:blipFill>
          <a:blip r:embed="rId1"/>
          <a:srcRect l="0" t="4619" r="3653" b="8797"/>
          <a:stretch/>
        </p:blipFill>
        <p:spPr>
          <a:xfrm>
            <a:off x="1223640" y="756360"/>
            <a:ext cx="6341040" cy="2254320"/>
          </a:xfrm>
          <a:prstGeom prst="rect">
            <a:avLst/>
          </a:prstGeom>
          <a:ln w="0">
            <a:noFill/>
          </a:ln>
        </p:spPr>
      </p:pic>
      <p:sp>
        <p:nvSpPr>
          <p:cNvPr id="135" name="Google Shape;582;p74"/>
          <p:cNvSpPr/>
          <p:nvPr/>
        </p:nvSpPr>
        <p:spPr>
          <a:xfrm>
            <a:off x="3196440" y="3370320"/>
            <a:ext cx="533124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b4a7d6"/>
                </a:solidFill>
                <a:latin typeface="Arial"/>
                <a:ea typeface="Arial"/>
              </a:rPr>
              <a:t>“</a:t>
            </a:r>
            <a:r>
              <a:rPr b="1" lang="en" sz="1200" spc="-1" strike="noStrike">
                <a:solidFill>
                  <a:srgbClr val="b4a7d6"/>
                </a:solidFill>
                <a:latin typeface="Arial"/>
                <a:ea typeface="Arial"/>
              </a:rPr>
              <a:t>Data is a precious thing and will last longer than the systems themselves.”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8e7cc3"/>
                </a:solidFill>
                <a:latin typeface="Arial"/>
                <a:ea typeface="Arial"/>
              </a:rPr>
              <a:t>                         </a:t>
            </a:r>
            <a:r>
              <a:rPr b="1" lang="en" sz="1100" spc="-1" strike="noStrike">
                <a:solidFill>
                  <a:srgbClr val="8e7cc3"/>
                </a:solidFill>
                <a:latin typeface="Arial"/>
                <a:ea typeface="Arial"/>
              </a:rPr>
              <a:t>  — </a:t>
            </a:r>
            <a:r>
              <a:rPr b="1" lang="en" sz="1100" spc="-1" strike="noStrike">
                <a:solidFill>
                  <a:srgbClr val="8e7cc3"/>
                </a:solidFill>
                <a:latin typeface="Arial"/>
                <a:ea typeface="Arial"/>
              </a:rPr>
              <a:t>Tim Berners-Lee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PPT_Plus/1.0.0.0$Windows_X86_64 LibreOffice_project/</Application>
  <AppVersion>15.0000</AppVersion>
  <Words>557</Words>
  <Paragraphs>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Hema0</dc:creator>
  <dc:description/>
  <dc:language>en-US</dc:language>
  <cp:lastModifiedBy/>
  <dcterms:modified xsi:type="dcterms:W3CDTF">2026-03-09T02:59:44Z</dcterms:modified>
  <cp:revision>3</cp:revision>
  <dc:subject/>
  <dc:title>Project Title              Visualizing Housing Market Trends:  An Analysis of Sale Prices and Features using Tableau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